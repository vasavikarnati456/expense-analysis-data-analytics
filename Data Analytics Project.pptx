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71"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B0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C5F7C3-1F63-4A6F-96F1-063E933D200B}" type="datetimeFigureOut">
              <a:rPr lang="en-IN" smtClean="0"/>
              <a:t>09-10-2026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AF00AE-9FA7-4F9E-A62B-D5E97990A49A}" type="slidenum">
              <a:rPr lang="en-IN" smtClean="0"/>
              <a:t>‹#›</a:t>
            </a:fld>
            <a:endParaRPr lang="en-IN" dirty="0"/>
          </a:p>
        </p:txBody>
      </p:sp>
    </p:spTree>
    <p:extLst>
      <p:ext uri="{BB962C8B-B14F-4D97-AF65-F5344CB8AC3E}">
        <p14:creationId xmlns:p14="http://schemas.microsoft.com/office/powerpoint/2010/main" val="349627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AF00AE-9FA7-4F9E-A62B-D5E97990A49A}" type="slidenum">
              <a:rPr lang="en-IN" smtClean="0"/>
              <a:t>2</a:t>
            </a:fld>
            <a:endParaRPr lang="en-IN"/>
          </a:p>
        </p:txBody>
      </p:sp>
    </p:spTree>
    <p:extLst>
      <p:ext uri="{BB962C8B-B14F-4D97-AF65-F5344CB8AC3E}">
        <p14:creationId xmlns:p14="http://schemas.microsoft.com/office/powerpoint/2010/main" val="18107508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10/9/2026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6000">
              <a:schemeClr val="accent2">
                <a:lumMod val="60000"/>
                <a:lumOff val="40000"/>
              </a:schemeClr>
            </a:gs>
            <a:gs pos="68000">
              <a:schemeClr val="accent1">
                <a:lumMod val="45000"/>
                <a:lumOff val="55000"/>
              </a:schemeClr>
            </a:gs>
            <a:gs pos="96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10/9/2026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AD5795-7DCB-FDFB-3205-1B95ACD9EE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22713" y="420745"/>
            <a:ext cx="6420678" cy="1759412"/>
          </a:xfrm>
          <a:prstGeom prst="rect">
            <a:avLst/>
          </a:prstGeom>
        </p:spPr>
      </p:pic>
      <p:sp>
        <p:nvSpPr>
          <p:cNvPr id="6" name="TextBox 5">
            <a:extLst>
              <a:ext uri="{FF2B5EF4-FFF2-40B4-BE49-F238E27FC236}">
                <a16:creationId xmlns:a16="http://schemas.microsoft.com/office/drawing/2014/main" id="{8E36AFAB-C8E7-6A64-5850-A8B2066F802A}"/>
              </a:ext>
            </a:extLst>
          </p:cNvPr>
          <p:cNvSpPr txBox="1"/>
          <p:nvPr/>
        </p:nvSpPr>
        <p:spPr>
          <a:xfrm>
            <a:off x="2286000" y="2478885"/>
            <a:ext cx="7620000"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PROJECT ON ANALYTICS</a:t>
            </a:r>
            <a:endParaRPr lang="en-IN" sz="36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EA5647A-652F-013B-8F71-30CFE927AD2F}"/>
              </a:ext>
            </a:extLst>
          </p:cNvPr>
          <p:cNvSpPr txBox="1"/>
          <p:nvPr/>
        </p:nvSpPr>
        <p:spPr>
          <a:xfrm>
            <a:off x="3515032" y="5236926"/>
            <a:ext cx="5161935" cy="1200329"/>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NAME :</a:t>
            </a:r>
            <a:r>
              <a:rPr lang="en-US" sz="2400" dirty="0">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VASAVI KARNATI</a:t>
            </a:r>
          </a:p>
          <a:p>
            <a:pPr algn="ctr"/>
            <a:r>
              <a:rPr lang="en-US" sz="2400" dirty="0">
                <a:solidFill>
                  <a:schemeClr val="bg1"/>
                </a:solidFill>
                <a:latin typeface="Times New Roman" panose="02020603050405020304" pitchFamily="18" charset="0"/>
                <a:cs typeface="Times New Roman" panose="02020603050405020304" pitchFamily="18" charset="0"/>
              </a:rPr>
              <a:t>AF ID :</a:t>
            </a:r>
            <a:r>
              <a:rPr lang="en-US" sz="2400" dirty="0">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AF05259574</a:t>
            </a:r>
          </a:p>
          <a:p>
            <a:pPr algn="ctr"/>
            <a:r>
              <a:rPr lang="en-US" sz="2400" dirty="0">
                <a:solidFill>
                  <a:schemeClr val="bg1"/>
                </a:solidFill>
                <a:latin typeface="Times New Roman" panose="02020603050405020304" pitchFamily="18" charset="0"/>
                <a:cs typeface="Times New Roman" panose="02020603050405020304" pitchFamily="18" charset="0"/>
              </a:rPr>
              <a:t>BATCH: ANP-D6582</a:t>
            </a:r>
          </a:p>
        </p:txBody>
      </p:sp>
      <p:sp>
        <p:nvSpPr>
          <p:cNvPr id="2" name="TextBox 1">
            <a:extLst>
              <a:ext uri="{FF2B5EF4-FFF2-40B4-BE49-F238E27FC236}">
                <a16:creationId xmlns:a16="http://schemas.microsoft.com/office/drawing/2014/main" id="{CC042BE8-C2A8-E8AC-9DE8-874B590205DF}"/>
              </a:ext>
            </a:extLst>
          </p:cNvPr>
          <p:cNvSpPr txBox="1"/>
          <p:nvPr/>
        </p:nvSpPr>
        <p:spPr>
          <a:xfrm>
            <a:off x="1754524" y="3163977"/>
            <a:ext cx="8682952" cy="1938992"/>
          </a:xfrm>
          <a:prstGeom prst="rect">
            <a:avLst/>
          </a:prstGeom>
          <a:noFill/>
        </p:spPr>
        <p:txBody>
          <a:bodyPr wrap="square" rtlCol="0">
            <a:spAutoFit/>
          </a:bodyPr>
          <a:lstStyle/>
          <a:p>
            <a:pPr algn="ctr"/>
            <a:r>
              <a:rPr lang="en-IN" sz="4000" b="1" dirty="0">
                <a:solidFill>
                  <a:schemeClr val="bg2"/>
                </a:solidFill>
                <a:latin typeface="Times New Roman" panose="02020603050405020304" pitchFamily="18" charset="0"/>
                <a:cs typeface="Times New Roman" panose="02020603050405020304" pitchFamily="18" charset="0"/>
              </a:rPr>
              <a:t>TITLE: EXPENSE ANALYSIS TO INCREASE SAVINGS FOR PURCHASING A SCOOTER</a:t>
            </a:r>
            <a:r>
              <a:rPr lang="en-IN" b="1" dirty="0"/>
              <a:t> </a:t>
            </a:r>
            <a:r>
              <a:rPr lang="en-IN" dirty="0"/>
              <a:t>   </a:t>
            </a:r>
          </a:p>
        </p:txBody>
      </p:sp>
    </p:spTree>
    <p:extLst>
      <p:ext uri="{BB962C8B-B14F-4D97-AF65-F5344CB8AC3E}">
        <p14:creationId xmlns:p14="http://schemas.microsoft.com/office/powerpoint/2010/main" val="3360246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259720-9463-D929-94DA-0635E09ECDD3}"/>
              </a:ext>
            </a:extLst>
          </p:cNvPr>
          <p:cNvSpPr txBox="1"/>
          <p:nvPr/>
        </p:nvSpPr>
        <p:spPr>
          <a:xfrm>
            <a:off x="2127454" y="302793"/>
            <a:ext cx="4809577" cy="707886"/>
          </a:xfrm>
          <a:prstGeom prst="rect">
            <a:avLst/>
          </a:prstGeom>
          <a:noFill/>
        </p:spPr>
        <p:txBody>
          <a:bodyPr wrap="square" rtlCol="0">
            <a:spAutoFit/>
          </a:bodyPr>
          <a:lstStyle/>
          <a:p>
            <a:r>
              <a:rPr lang="en-IN" sz="4000" dirty="0"/>
              <a:t>📊</a:t>
            </a:r>
            <a:r>
              <a:rPr lang="en-US" sz="4000" dirty="0">
                <a:solidFill>
                  <a:srgbClr val="FF0000"/>
                </a:solidFill>
                <a:latin typeface="Times New Roman" panose="02020603050405020304" pitchFamily="18" charset="0"/>
                <a:cs typeface="Times New Roman" panose="02020603050405020304" pitchFamily="18" charset="0"/>
              </a:rPr>
              <a:t>INTRODUCTION</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5242E7A-7DC3-9167-6A33-674457DA9983}"/>
              </a:ext>
            </a:extLst>
          </p:cNvPr>
          <p:cNvSpPr txBox="1"/>
          <p:nvPr/>
        </p:nvSpPr>
        <p:spPr>
          <a:xfrm>
            <a:off x="1262270" y="1209054"/>
            <a:ext cx="6062870" cy="5262979"/>
          </a:xfrm>
          <a:prstGeom prst="rect">
            <a:avLst/>
          </a:prstGeom>
          <a:noFill/>
        </p:spPr>
        <p:txBody>
          <a:bodyPr wrap="square" rtlCol="0">
            <a:spAutoFit/>
          </a:bodyPr>
          <a:lstStyle/>
          <a:p>
            <a:pPr marL="342900" lvl="0" indent="-342900" algn="just">
              <a:buFont typeface="Wingdings" panose="05000000000000000000" pitchFamily="2" charset="2"/>
              <a:buChar char="§"/>
            </a:pPr>
            <a:r>
              <a:rPr lang="en-IN" sz="2400" dirty="0">
                <a:solidFill>
                  <a:schemeClr val="bg1"/>
                </a:solidFill>
                <a:latin typeface="Times New Roman" panose="02020603050405020304" pitchFamily="18" charset="0"/>
                <a:cs typeface="Times New Roman" panose="02020603050405020304" pitchFamily="18" charset="0"/>
              </a:rPr>
              <a:t> Due to increasing monthly expenses, Nitin has been unable to save enough money to achieve his financial goal. </a:t>
            </a:r>
          </a:p>
          <a:p>
            <a:pPr marL="342900" lvl="0" indent="-342900" algn="just">
              <a:buFont typeface="Wingdings" panose="05000000000000000000" pitchFamily="2" charset="2"/>
              <a:buChar char="§"/>
            </a:pPr>
            <a:r>
              <a:rPr lang="en-IN" sz="2400" dirty="0">
                <a:solidFill>
                  <a:schemeClr val="bg1"/>
                </a:solidFill>
                <a:latin typeface="Times New Roman" panose="02020603050405020304" pitchFamily="18" charset="0"/>
                <a:cs typeface="Times New Roman" panose="02020603050405020304" pitchFamily="18" charset="0"/>
              </a:rPr>
              <a:t>The project involves analysing June's expense data and the last six months of expense records to understand his spending behaviour. </a:t>
            </a:r>
          </a:p>
          <a:p>
            <a:pPr marL="342900" lvl="0" indent="-342900" algn="just">
              <a:buFont typeface="Wingdings" panose="05000000000000000000" pitchFamily="2" charset="2"/>
              <a:buChar char="§"/>
            </a:pPr>
            <a:r>
              <a:rPr lang="en-IN" sz="2400" dirty="0">
                <a:solidFill>
                  <a:schemeClr val="bg1"/>
                </a:solidFill>
                <a:latin typeface="Times New Roman" panose="02020603050405020304" pitchFamily="18" charset="0"/>
                <a:cs typeface="Times New Roman" panose="02020603050405020304" pitchFamily="18" charset="0"/>
              </a:rPr>
              <a:t>The analysis is performed using Microsoft Excel, including Pivot Tables, Pivot Charts, and Conditional Formatting to organize and visualize the data. </a:t>
            </a:r>
          </a:p>
          <a:p>
            <a:pPr marL="342900" lvl="0" indent="-342900" algn="just">
              <a:buFont typeface="Wingdings" panose="05000000000000000000" pitchFamily="2" charset="2"/>
              <a:buChar char="§"/>
            </a:pPr>
            <a:r>
              <a:rPr lang="en-IN" sz="2400" dirty="0">
                <a:solidFill>
                  <a:schemeClr val="bg1"/>
                </a:solidFill>
                <a:latin typeface="Times New Roman" panose="02020603050405020304" pitchFamily="18" charset="0"/>
                <a:cs typeface="Times New Roman" panose="02020603050405020304" pitchFamily="18" charset="0"/>
              </a:rPr>
              <a:t>The project identifies the highest expense categories, monthly spending trends, and non-essential expenses that can be reduced. </a:t>
            </a:r>
          </a:p>
        </p:txBody>
      </p:sp>
      <p:pic>
        <p:nvPicPr>
          <p:cNvPr id="5" name="Picture 4">
            <a:extLst>
              <a:ext uri="{FF2B5EF4-FFF2-40B4-BE49-F238E27FC236}">
                <a16:creationId xmlns:a16="http://schemas.microsoft.com/office/drawing/2014/main" id="{5E2E54A5-B408-B813-BBAD-137EC4321085}"/>
              </a:ext>
            </a:extLst>
          </p:cNvPr>
          <p:cNvPicPr>
            <a:picLocks noChangeAspect="1"/>
          </p:cNvPicPr>
          <p:nvPr/>
        </p:nvPicPr>
        <p:blipFill>
          <a:blip r:embed="rId3"/>
          <a:stretch>
            <a:fillRect/>
          </a:stretch>
        </p:blipFill>
        <p:spPr>
          <a:xfrm>
            <a:off x="7623313" y="1272209"/>
            <a:ext cx="3730486" cy="5179116"/>
          </a:xfrm>
          <a:prstGeom prst="rect">
            <a:avLst/>
          </a:prstGeom>
        </p:spPr>
      </p:pic>
    </p:spTree>
    <p:extLst>
      <p:ext uri="{BB962C8B-B14F-4D97-AF65-F5344CB8AC3E}">
        <p14:creationId xmlns:p14="http://schemas.microsoft.com/office/powerpoint/2010/main" val="3154162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AF5EB4-1027-E371-36F8-3D48198EFFDB}"/>
              </a:ext>
            </a:extLst>
          </p:cNvPr>
          <p:cNvSpPr txBox="1"/>
          <p:nvPr/>
        </p:nvSpPr>
        <p:spPr>
          <a:xfrm>
            <a:off x="3063175" y="592520"/>
            <a:ext cx="6488436" cy="707886"/>
          </a:xfrm>
          <a:prstGeom prst="rect">
            <a:avLst/>
          </a:prstGeom>
          <a:noFill/>
        </p:spPr>
        <p:txBody>
          <a:bodyPr wrap="square" rtlCol="0">
            <a:spAutoFit/>
          </a:bodyPr>
          <a:lstStyle/>
          <a:p>
            <a:pPr algn="ctr"/>
            <a:r>
              <a:rPr lang="en-IN" sz="4000" dirty="0"/>
              <a:t>🎯</a:t>
            </a:r>
            <a:r>
              <a:rPr lang="en-US" sz="4000" dirty="0">
                <a:solidFill>
                  <a:srgbClr val="FF0000"/>
                </a:solidFill>
                <a:latin typeface="Times New Roman" panose="02020603050405020304" pitchFamily="18" charset="0"/>
                <a:cs typeface="Times New Roman" panose="02020603050405020304" pitchFamily="18" charset="0"/>
              </a:rPr>
              <a:t>PROBLEM STATEMENT</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9FF9BA7-EAB0-8F7C-C5CD-5E679ADE3846}"/>
              </a:ext>
            </a:extLst>
          </p:cNvPr>
          <p:cNvSpPr txBox="1"/>
          <p:nvPr/>
        </p:nvSpPr>
        <p:spPr>
          <a:xfrm>
            <a:off x="2133599" y="1720646"/>
            <a:ext cx="8347588" cy="3836948"/>
          </a:xfrm>
          <a:prstGeom prst="rect">
            <a:avLst/>
          </a:prstGeom>
          <a:noFill/>
        </p:spPr>
        <p:txBody>
          <a:bodyPr wrap="square" rtlCol="0">
            <a:spAutoFit/>
          </a:bodyPr>
          <a:lstStyle/>
          <a:p>
            <a:pPr marL="0" lvl="1" indent="0" algn="just">
              <a:spcBef>
                <a:spcPts val="800"/>
              </a:spcBef>
              <a:spcAft>
                <a:spcPts val="800"/>
              </a:spcAft>
              <a:buSzPct val="100000"/>
              <a:buNone/>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Nitin works as a Graphic Designer in a new company. He earns Rs 15,000/- per month. He is planning to buy a scooter for his daily commute to the office. </a:t>
            </a:r>
          </a:p>
          <a:p>
            <a:pPr marL="0" lvl="1" indent="0" algn="just">
              <a:spcBef>
                <a:spcPts val="800"/>
              </a:spcBef>
              <a:spcAft>
                <a:spcPts val="800"/>
              </a:spcAft>
              <a:buSzPct val="100000"/>
              <a:buNone/>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For the last couple of months, Nitin is not able to save at all for his scooter. His friend Ayush told him that he needed to figure out where most of the money goes and cut down that expense. </a:t>
            </a:r>
          </a:p>
          <a:p>
            <a:pPr marL="0" lvl="1" indent="0" algn="just">
              <a:spcBef>
                <a:spcPts val="800"/>
              </a:spcBef>
              <a:spcAft>
                <a:spcPts val="800"/>
              </a:spcAft>
              <a:buSzPct val="100000"/>
              <a:buNone/>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Help Nitin increase his savings by removing some unnecessary expenses.</a:t>
            </a:r>
          </a:p>
          <a:p>
            <a:endParaRPr lang="en-IN" dirty="0"/>
          </a:p>
        </p:txBody>
      </p:sp>
    </p:spTree>
    <p:extLst>
      <p:ext uri="{BB962C8B-B14F-4D97-AF65-F5344CB8AC3E}">
        <p14:creationId xmlns:p14="http://schemas.microsoft.com/office/powerpoint/2010/main" val="135541038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7DE625-1339-901F-2DD9-8281207B8AEB}"/>
              </a:ext>
            </a:extLst>
          </p:cNvPr>
          <p:cNvSpPr txBox="1"/>
          <p:nvPr/>
        </p:nvSpPr>
        <p:spPr>
          <a:xfrm>
            <a:off x="4561204" y="122163"/>
            <a:ext cx="3069589" cy="707886"/>
          </a:xfrm>
          <a:prstGeom prst="rect">
            <a:avLst/>
          </a:prstGeom>
          <a:noFill/>
        </p:spPr>
        <p:txBody>
          <a:bodyPr wrap="square" rtlCol="0">
            <a:spAutoFit/>
          </a:bodyPr>
          <a:lstStyle/>
          <a:p>
            <a:r>
              <a:rPr lang="en-IN" sz="4000" dirty="0"/>
              <a:t>🔍 </a:t>
            </a:r>
            <a:r>
              <a:rPr lang="en-US" sz="4000" dirty="0">
                <a:solidFill>
                  <a:srgbClr val="FF0000"/>
                </a:solidFill>
                <a:latin typeface="Times New Roman" panose="02020603050405020304" pitchFamily="18" charset="0"/>
                <a:cs typeface="Times New Roman" panose="02020603050405020304" pitchFamily="18" charset="0"/>
              </a:rPr>
              <a:t>TASK - 1</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BC94A24-26E2-C949-F187-E80B473933B9}"/>
              </a:ext>
            </a:extLst>
          </p:cNvPr>
          <p:cNvSpPr txBox="1"/>
          <p:nvPr/>
        </p:nvSpPr>
        <p:spPr>
          <a:xfrm>
            <a:off x="1484671" y="933289"/>
            <a:ext cx="9743768" cy="1554272"/>
          </a:xfrm>
          <a:prstGeom prst="rect">
            <a:avLst/>
          </a:prstGeom>
          <a:noFill/>
        </p:spPr>
        <p:txBody>
          <a:bodyPr wrap="square" rtlCol="0">
            <a:spAutoFit/>
          </a:bodyPr>
          <a:lstStyle/>
          <a:p>
            <a:pPr lvl="0" algn="just">
              <a:spcBef>
                <a:spcPts val="600"/>
              </a:spcBef>
              <a:spcAft>
                <a:spcPts val="0"/>
              </a:spcAft>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1 How much is spent for each category (Pivot Table)</a:t>
            </a:r>
          </a:p>
          <a:p>
            <a:pPr marL="285750" lvl="0" indent="-285750" algn="just" defTabSz="914400">
              <a:spcBef>
                <a:spcPts val="600"/>
              </a:spcBef>
              <a:buFont typeface="Wingdings" panose="05000000000000000000" pitchFamily="2" charset="2"/>
              <a:buChar char="§"/>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Visually represent the amount spent against each category is what percentage of the total expense amount (Pivot Chart)</a:t>
            </a:r>
          </a:p>
          <a:p>
            <a:endParaRPr lang="en-IN" dirty="0"/>
          </a:p>
        </p:txBody>
      </p:sp>
      <p:pic>
        <p:nvPicPr>
          <p:cNvPr id="13" name="Picture 12">
            <a:extLst>
              <a:ext uri="{FF2B5EF4-FFF2-40B4-BE49-F238E27FC236}">
                <a16:creationId xmlns:a16="http://schemas.microsoft.com/office/drawing/2014/main" id="{7F4C795F-0C0C-E0CF-620A-D0F68F5DAD1F}"/>
              </a:ext>
            </a:extLst>
          </p:cNvPr>
          <p:cNvPicPr>
            <a:picLocks noChangeAspect="1"/>
          </p:cNvPicPr>
          <p:nvPr/>
        </p:nvPicPr>
        <p:blipFill>
          <a:blip r:embed="rId2"/>
          <a:stretch>
            <a:fillRect/>
          </a:stretch>
        </p:blipFill>
        <p:spPr>
          <a:xfrm>
            <a:off x="2115314" y="2590801"/>
            <a:ext cx="3980685" cy="3559278"/>
          </a:xfrm>
          <a:prstGeom prst="rect">
            <a:avLst/>
          </a:prstGeom>
        </p:spPr>
      </p:pic>
      <p:pic>
        <p:nvPicPr>
          <p:cNvPr id="21" name="Picture 20">
            <a:extLst>
              <a:ext uri="{FF2B5EF4-FFF2-40B4-BE49-F238E27FC236}">
                <a16:creationId xmlns:a16="http://schemas.microsoft.com/office/drawing/2014/main" id="{9A8317EB-A6DE-A293-EC1D-34C4DF0500D4}"/>
              </a:ext>
            </a:extLst>
          </p:cNvPr>
          <p:cNvPicPr>
            <a:picLocks noChangeAspect="1"/>
          </p:cNvPicPr>
          <p:nvPr/>
        </p:nvPicPr>
        <p:blipFill>
          <a:blip r:embed="rId3"/>
          <a:stretch>
            <a:fillRect/>
          </a:stretch>
        </p:blipFill>
        <p:spPr>
          <a:xfrm>
            <a:off x="6566570" y="2585145"/>
            <a:ext cx="4584589" cy="3559278"/>
          </a:xfrm>
          <a:prstGeom prst="rect">
            <a:avLst/>
          </a:prstGeom>
        </p:spPr>
      </p:pic>
    </p:spTree>
    <p:extLst>
      <p:ext uri="{BB962C8B-B14F-4D97-AF65-F5344CB8AC3E}">
        <p14:creationId xmlns:p14="http://schemas.microsoft.com/office/powerpoint/2010/main" val="109912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4825C3-C986-80D8-FC36-CFEAC00217DA}"/>
              </a:ext>
            </a:extLst>
          </p:cNvPr>
          <p:cNvSpPr txBox="1"/>
          <p:nvPr/>
        </p:nvSpPr>
        <p:spPr>
          <a:xfrm>
            <a:off x="1415845" y="865239"/>
            <a:ext cx="9733936" cy="1554272"/>
          </a:xfrm>
          <a:prstGeom prst="rect">
            <a:avLst/>
          </a:prstGeom>
          <a:noFill/>
        </p:spPr>
        <p:txBody>
          <a:bodyPr wrap="square" rtlCol="0">
            <a:spAutoFit/>
          </a:bodyPr>
          <a:lstStyle/>
          <a:p>
            <a:pPr algn="just">
              <a:spcBef>
                <a:spcPts val="600"/>
              </a:spcBef>
              <a:spcAft>
                <a:spcPts val="0"/>
              </a:spcAft>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2. How much is spent on different items of each category (Pivot Table)</a:t>
            </a:r>
          </a:p>
          <a:p>
            <a:pPr marL="285750" indent="-285750" algn="just">
              <a:spcBef>
                <a:spcPts val="600"/>
              </a:spcBef>
              <a:spcAft>
                <a:spcPts val="0"/>
              </a:spcAft>
              <a:buFont typeface="Wingdings" panose="05000000000000000000" pitchFamily="2" charset="2"/>
              <a:buChar cha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Visually represent the amount spent on different items of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Entertainment</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and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Tickets and bills</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category (Pivot Chart)</a:t>
            </a:r>
          </a:p>
          <a:p>
            <a:endParaRPr lang="en-IN" dirty="0"/>
          </a:p>
        </p:txBody>
      </p:sp>
      <p:pic>
        <p:nvPicPr>
          <p:cNvPr id="6" name="Picture 5">
            <a:extLst>
              <a:ext uri="{FF2B5EF4-FFF2-40B4-BE49-F238E27FC236}">
                <a16:creationId xmlns:a16="http://schemas.microsoft.com/office/drawing/2014/main" id="{0616BBE6-0BB9-7C5C-9334-3E88F411E1B6}"/>
              </a:ext>
            </a:extLst>
          </p:cNvPr>
          <p:cNvPicPr>
            <a:picLocks noChangeAspect="1"/>
          </p:cNvPicPr>
          <p:nvPr/>
        </p:nvPicPr>
        <p:blipFill>
          <a:blip r:embed="rId2"/>
          <a:stretch>
            <a:fillRect/>
          </a:stretch>
        </p:blipFill>
        <p:spPr>
          <a:xfrm>
            <a:off x="1592826" y="2664543"/>
            <a:ext cx="4503174" cy="3205314"/>
          </a:xfrm>
          <a:prstGeom prst="rect">
            <a:avLst/>
          </a:prstGeom>
        </p:spPr>
      </p:pic>
      <p:pic>
        <p:nvPicPr>
          <p:cNvPr id="10" name="Picture 9">
            <a:extLst>
              <a:ext uri="{FF2B5EF4-FFF2-40B4-BE49-F238E27FC236}">
                <a16:creationId xmlns:a16="http://schemas.microsoft.com/office/drawing/2014/main" id="{B5992722-369C-D807-1299-DBD1556F49CE}"/>
              </a:ext>
            </a:extLst>
          </p:cNvPr>
          <p:cNvPicPr>
            <a:picLocks noChangeAspect="1"/>
          </p:cNvPicPr>
          <p:nvPr/>
        </p:nvPicPr>
        <p:blipFill>
          <a:blip r:embed="rId3"/>
          <a:stretch>
            <a:fillRect/>
          </a:stretch>
        </p:blipFill>
        <p:spPr>
          <a:xfrm>
            <a:off x="6912078" y="2664543"/>
            <a:ext cx="4345858" cy="3205314"/>
          </a:xfrm>
          <a:prstGeom prst="rect">
            <a:avLst/>
          </a:prstGeom>
        </p:spPr>
      </p:pic>
    </p:spTree>
    <p:extLst>
      <p:ext uri="{BB962C8B-B14F-4D97-AF65-F5344CB8AC3E}">
        <p14:creationId xmlns:p14="http://schemas.microsoft.com/office/powerpoint/2010/main" val="17828969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335ED-EF5C-008D-D17A-483D956EFE24}"/>
              </a:ext>
            </a:extLst>
          </p:cNvPr>
          <p:cNvSpPr txBox="1"/>
          <p:nvPr/>
        </p:nvSpPr>
        <p:spPr>
          <a:xfrm>
            <a:off x="1524000" y="825910"/>
            <a:ext cx="9635613" cy="1631216"/>
          </a:xfrm>
          <a:prstGeom prst="rect">
            <a:avLst/>
          </a:prstGeom>
          <a:noFill/>
        </p:spPr>
        <p:txBody>
          <a:bodyPr wrap="square" rtlCol="0">
            <a:spAutoFit/>
          </a:bodyPr>
          <a:lstStyle/>
          <a:p>
            <a:pPr lvl="0" algn="just" defTabSz="914400">
              <a:spcBef>
                <a:spcPts val="600"/>
              </a:spcBef>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3. How many times money has been spent against different items of each</a:t>
            </a:r>
          </a:p>
          <a:p>
            <a:pPr lvl="0" algn="just" defTabSz="914400">
              <a:spcBef>
                <a:spcPts val="600"/>
              </a:spcBef>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category (Pivot Table)</a:t>
            </a:r>
          </a:p>
          <a:p>
            <a:pPr marL="285750" lvl="0" indent="-285750" algn="just" defTabSz="914400">
              <a:spcBef>
                <a:spcPts val="600"/>
              </a:spcBef>
              <a:buFont typeface="Wingdings" panose="05000000000000000000" pitchFamily="2" charset="2"/>
              <a:buChar char="§"/>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Filter the data to display the data for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Grocery</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items and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Shopping</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items</a:t>
            </a:r>
          </a:p>
          <a:p>
            <a:endParaRPr lang="en-IN" dirty="0"/>
          </a:p>
        </p:txBody>
      </p:sp>
      <p:pic>
        <p:nvPicPr>
          <p:cNvPr id="7" name="Picture 6">
            <a:extLst>
              <a:ext uri="{FF2B5EF4-FFF2-40B4-BE49-F238E27FC236}">
                <a16:creationId xmlns:a16="http://schemas.microsoft.com/office/drawing/2014/main" id="{78A30FA4-FF25-B065-9F98-F2E88050BD7C}"/>
              </a:ext>
            </a:extLst>
          </p:cNvPr>
          <p:cNvPicPr>
            <a:picLocks noChangeAspect="1"/>
          </p:cNvPicPr>
          <p:nvPr/>
        </p:nvPicPr>
        <p:blipFill>
          <a:blip r:embed="rId2"/>
          <a:stretch>
            <a:fillRect/>
          </a:stretch>
        </p:blipFill>
        <p:spPr>
          <a:xfrm>
            <a:off x="1791682" y="2812025"/>
            <a:ext cx="4304317" cy="3087329"/>
          </a:xfrm>
          <a:prstGeom prst="rect">
            <a:avLst/>
          </a:prstGeom>
        </p:spPr>
      </p:pic>
      <p:pic>
        <p:nvPicPr>
          <p:cNvPr id="9" name="Picture 8">
            <a:extLst>
              <a:ext uri="{FF2B5EF4-FFF2-40B4-BE49-F238E27FC236}">
                <a16:creationId xmlns:a16="http://schemas.microsoft.com/office/drawing/2014/main" id="{0C10F805-D840-3691-3E42-9EE8AB7C7A02}"/>
              </a:ext>
            </a:extLst>
          </p:cNvPr>
          <p:cNvPicPr>
            <a:picLocks noChangeAspect="1"/>
          </p:cNvPicPr>
          <p:nvPr/>
        </p:nvPicPr>
        <p:blipFill>
          <a:blip r:embed="rId3"/>
          <a:stretch>
            <a:fillRect/>
          </a:stretch>
        </p:blipFill>
        <p:spPr>
          <a:xfrm>
            <a:off x="6479457" y="2812026"/>
            <a:ext cx="4768646" cy="3087329"/>
          </a:xfrm>
          <a:prstGeom prst="rect">
            <a:avLst/>
          </a:prstGeom>
        </p:spPr>
      </p:pic>
    </p:spTree>
    <p:extLst>
      <p:ext uri="{BB962C8B-B14F-4D97-AF65-F5344CB8AC3E}">
        <p14:creationId xmlns:p14="http://schemas.microsoft.com/office/powerpoint/2010/main" val="3694992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6F092A-CB29-BD1D-ADA5-294CEF77EBE7}"/>
              </a:ext>
            </a:extLst>
          </p:cNvPr>
          <p:cNvSpPr txBox="1"/>
          <p:nvPr/>
        </p:nvSpPr>
        <p:spPr>
          <a:xfrm>
            <a:off x="1700981" y="983226"/>
            <a:ext cx="9468464" cy="1354217"/>
          </a:xfrm>
          <a:prstGeom prst="rect">
            <a:avLst/>
          </a:prstGeom>
          <a:noFill/>
        </p:spPr>
        <p:txBody>
          <a:bodyPr wrap="square" rtlCol="0">
            <a:spAutoFit/>
          </a:bodyPr>
          <a:lstStyle/>
          <a:p>
            <a:pPr lvl="0" defTabSz="914400">
              <a:spcBef>
                <a:spcPts val="600"/>
              </a:spcBef>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4. What amount is spent on each item of the categories with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highest</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and</a:t>
            </a:r>
          </a:p>
          <a:p>
            <a:pPr lvl="0" defTabSz="914400">
              <a:spcBef>
                <a:spcPts val="600"/>
              </a:spcBef>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2</a:t>
            </a:r>
            <a:r>
              <a:rPr lang="en-US" sz="2400" b="1" baseline="300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nd</a:t>
            </a:r>
            <a:r>
              <a:rPr lang="en-US" sz="2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highest</a:t>
            </a: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expense amount (Pivot Table)</a:t>
            </a:r>
          </a:p>
          <a:p>
            <a:pPr marL="285750" lvl="0" indent="-285750" defTabSz="914400">
              <a:spcBef>
                <a:spcPts val="600"/>
              </a:spcBef>
              <a:buFont typeface="Wingdings" panose="05000000000000000000" pitchFamily="2" charset="2"/>
              <a:buChar char="§"/>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Visually represent the data with data bars (Conditional formatting)</a:t>
            </a:r>
          </a:p>
        </p:txBody>
      </p:sp>
      <p:pic>
        <p:nvPicPr>
          <p:cNvPr id="6" name="Picture 5">
            <a:extLst>
              <a:ext uri="{FF2B5EF4-FFF2-40B4-BE49-F238E27FC236}">
                <a16:creationId xmlns:a16="http://schemas.microsoft.com/office/drawing/2014/main" id="{573D0081-601B-6CCA-A73A-3C7EEB447BEB}"/>
              </a:ext>
            </a:extLst>
          </p:cNvPr>
          <p:cNvPicPr>
            <a:picLocks noChangeAspect="1"/>
          </p:cNvPicPr>
          <p:nvPr/>
        </p:nvPicPr>
        <p:blipFill>
          <a:blip r:embed="rId2"/>
          <a:stretch>
            <a:fillRect/>
          </a:stretch>
        </p:blipFill>
        <p:spPr>
          <a:xfrm>
            <a:off x="2113935" y="2916747"/>
            <a:ext cx="3982065" cy="2895599"/>
          </a:xfrm>
          <a:prstGeom prst="rect">
            <a:avLst/>
          </a:prstGeom>
        </p:spPr>
      </p:pic>
      <p:pic>
        <p:nvPicPr>
          <p:cNvPr id="8" name="Picture 7">
            <a:extLst>
              <a:ext uri="{FF2B5EF4-FFF2-40B4-BE49-F238E27FC236}">
                <a16:creationId xmlns:a16="http://schemas.microsoft.com/office/drawing/2014/main" id="{6FE1CD4D-4162-8386-BD94-77B2B2FCA21F}"/>
              </a:ext>
            </a:extLst>
          </p:cNvPr>
          <p:cNvPicPr>
            <a:picLocks noChangeAspect="1"/>
          </p:cNvPicPr>
          <p:nvPr/>
        </p:nvPicPr>
        <p:blipFill>
          <a:blip r:embed="rId3"/>
          <a:stretch>
            <a:fillRect/>
          </a:stretch>
        </p:blipFill>
        <p:spPr>
          <a:xfrm>
            <a:off x="6435212" y="2916747"/>
            <a:ext cx="4852219" cy="2895599"/>
          </a:xfrm>
          <a:prstGeom prst="rect">
            <a:avLst/>
          </a:prstGeom>
        </p:spPr>
      </p:pic>
    </p:spTree>
    <p:extLst>
      <p:ext uri="{BB962C8B-B14F-4D97-AF65-F5344CB8AC3E}">
        <p14:creationId xmlns:p14="http://schemas.microsoft.com/office/powerpoint/2010/main" val="21596687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24FF5A-F969-32A4-AEBA-3D6E11CAC0B2}"/>
              </a:ext>
            </a:extLst>
          </p:cNvPr>
          <p:cNvSpPr txBox="1"/>
          <p:nvPr/>
        </p:nvSpPr>
        <p:spPr>
          <a:xfrm>
            <a:off x="2072308" y="391492"/>
            <a:ext cx="8388627" cy="707886"/>
          </a:xfrm>
          <a:prstGeom prst="rect">
            <a:avLst/>
          </a:prstGeom>
          <a:noFill/>
        </p:spPr>
        <p:txBody>
          <a:bodyPr wrap="square" rtlCol="0">
            <a:spAutoFit/>
          </a:bodyPr>
          <a:lstStyle/>
          <a:p>
            <a:pPr algn="just"/>
            <a:r>
              <a:rPr lang="en-IN" sz="4000" dirty="0"/>
              <a:t>💡</a:t>
            </a:r>
            <a:r>
              <a:rPr lang="en-IN" sz="4000" dirty="0">
                <a:solidFill>
                  <a:srgbClr val="FF0000"/>
                </a:solidFill>
                <a:latin typeface="Times New Roman" panose="02020603050405020304" pitchFamily="18" charset="0"/>
                <a:cs typeface="Times New Roman" panose="02020603050405020304" pitchFamily="18" charset="0"/>
              </a:rPr>
              <a:t>Suggestions – June Month Analysis</a:t>
            </a:r>
          </a:p>
        </p:txBody>
      </p:sp>
      <p:sp>
        <p:nvSpPr>
          <p:cNvPr id="3" name="TextBox 2">
            <a:extLst>
              <a:ext uri="{FF2B5EF4-FFF2-40B4-BE49-F238E27FC236}">
                <a16:creationId xmlns:a16="http://schemas.microsoft.com/office/drawing/2014/main" id="{642EC55C-84E3-6103-A0D8-C4763683763B}"/>
              </a:ext>
            </a:extLst>
          </p:cNvPr>
          <p:cNvSpPr txBox="1"/>
          <p:nvPr/>
        </p:nvSpPr>
        <p:spPr>
          <a:xfrm>
            <a:off x="1441174" y="1536174"/>
            <a:ext cx="9650896" cy="3785652"/>
          </a:xfrm>
          <a:prstGeom prst="rect">
            <a:avLst/>
          </a:prstGeom>
          <a:noFill/>
        </p:spPr>
        <p:txBody>
          <a:bodyPr wrap="square" rtlCol="0">
            <a:spAutoFit/>
          </a:bodyPr>
          <a:lstStyle/>
          <a:p>
            <a:pPr lvl="0"/>
            <a:r>
              <a:rPr lang="en-IN" sz="2400" b="1" dirty="0">
                <a:solidFill>
                  <a:schemeClr val="bg2"/>
                </a:solidFill>
                <a:latin typeface="Times New Roman" panose="02020603050405020304" pitchFamily="18" charset="0"/>
                <a:cs typeface="Times New Roman" panose="02020603050405020304" pitchFamily="18" charset="0"/>
              </a:rPr>
              <a:t>Entertainment:</a:t>
            </a:r>
            <a:r>
              <a:rPr lang="en-IN" sz="2400" dirty="0">
                <a:solidFill>
                  <a:schemeClr val="bg1"/>
                </a:solidFill>
                <a:latin typeface="Times New Roman" panose="02020603050405020304" pitchFamily="18" charset="0"/>
                <a:cs typeface="Times New Roman" panose="02020603050405020304" pitchFamily="18" charset="0"/>
              </a:rPr>
              <a:t> Entertainment expenses are high in June. Reducing movie outings and other leisure activities can help increase savings. </a:t>
            </a:r>
          </a:p>
          <a:p>
            <a:pPr lvl="0"/>
            <a:r>
              <a:rPr lang="en-IN" sz="2400" b="1" dirty="0">
                <a:solidFill>
                  <a:schemeClr val="bg2"/>
                </a:solidFill>
                <a:latin typeface="Times New Roman" panose="02020603050405020304" pitchFamily="18" charset="0"/>
                <a:cs typeface="Times New Roman" panose="02020603050405020304" pitchFamily="18" charset="0"/>
              </a:rPr>
              <a:t>Food:</a:t>
            </a:r>
            <a:r>
              <a:rPr lang="en-IN" sz="2400" dirty="0">
                <a:solidFill>
                  <a:schemeClr val="bg1"/>
                </a:solidFill>
                <a:latin typeface="Times New Roman" panose="02020603050405020304" pitchFamily="18" charset="0"/>
                <a:cs typeface="Times New Roman" panose="02020603050405020304" pitchFamily="18" charset="0"/>
              </a:rPr>
              <a:t> Spending on online food orders is high. Cooking at home and limiting food delivery can significantly reduce expenses. </a:t>
            </a:r>
          </a:p>
          <a:p>
            <a:pPr lvl="0"/>
            <a:r>
              <a:rPr lang="en-IN" sz="2400" b="1" dirty="0">
                <a:solidFill>
                  <a:schemeClr val="bg2"/>
                </a:solidFill>
                <a:latin typeface="Times New Roman" panose="02020603050405020304" pitchFamily="18" charset="0"/>
                <a:cs typeface="Times New Roman" panose="02020603050405020304" pitchFamily="18" charset="0"/>
              </a:rPr>
              <a:t>Shopping:</a:t>
            </a:r>
            <a:r>
              <a:rPr lang="en-IN" sz="2400" dirty="0">
                <a:solidFill>
                  <a:schemeClr val="bg1"/>
                </a:solidFill>
                <a:latin typeface="Times New Roman" panose="02020603050405020304" pitchFamily="18" charset="0"/>
                <a:cs typeface="Times New Roman" panose="02020603050405020304" pitchFamily="18" charset="0"/>
              </a:rPr>
              <a:t> Avoid purchasing non-essential items and focus only on essential needs. </a:t>
            </a:r>
          </a:p>
          <a:p>
            <a:pPr lvl="0"/>
            <a:r>
              <a:rPr lang="en-IN" sz="2400" b="1" dirty="0">
                <a:solidFill>
                  <a:schemeClr val="bg2"/>
                </a:solidFill>
                <a:latin typeface="Times New Roman" panose="02020603050405020304" pitchFamily="18" charset="0"/>
                <a:cs typeface="Times New Roman" panose="02020603050405020304" pitchFamily="18" charset="0"/>
              </a:rPr>
              <a:t>Budget Planning:</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Set a weekly budget and monitor daily expenses to avoid overspending. </a:t>
            </a:r>
          </a:p>
          <a:p>
            <a:pPr lvl="0"/>
            <a:r>
              <a:rPr lang="en-IN" sz="2400" b="1" dirty="0">
                <a:solidFill>
                  <a:schemeClr val="bg2"/>
                </a:solidFill>
                <a:latin typeface="Times New Roman" panose="02020603050405020304" pitchFamily="18" charset="0"/>
                <a:cs typeface="Times New Roman" panose="02020603050405020304" pitchFamily="18" charset="0"/>
              </a:rPr>
              <a:t>Savings Goal:</a:t>
            </a:r>
            <a:r>
              <a:rPr lang="en-IN" sz="2400" dirty="0">
                <a:solidFill>
                  <a:schemeClr val="bg1"/>
                </a:solidFill>
                <a:latin typeface="Times New Roman" panose="02020603050405020304" pitchFamily="18" charset="0"/>
                <a:cs typeface="Times New Roman" panose="02020603050405020304" pitchFamily="18" charset="0"/>
              </a:rPr>
              <a:t> Transfer the amount saved from reduced expenses into a separate scooter savings account every month.</a:t>
            </a:r>
          </a:p>
        </p:txBody>
      </p:sp>
    </p:spTree>
    <p:extLst>
      <p:ext uri="{BB962C8B-B14F-4D97-AF65-F5344CB8AC3E}">
        <p14:creationId xmlns:p14="http://schemas.microsoft.com/office/powerpoint/2010/main" val="2793887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F31C3-9F6D-D87B-92A7-7A92EFB0C1C3}"/>
              </a:ext>
            </a:extLst>
          </p:cNvPr>
          <p:cNvSpPr txBox="1"/>
          <p:nvPr/>
        </p:nvSpPr>
        <p:spPr>
          <a:xfrm>
            <a:off x="4487516" y="298148"/>
            <a:ext cx="3216966" cy="707886"/>
          </a:xfrm>
          <a:prstGeom prst="rect">
            <a:avLst/>
          </a:prstGeom>
          <a:noFill/>
        </p:spPr>
        <p:txBody>
          <a:bodyPr wrap="square" rtlCol="0">
            <a:spAutoFit/>
          </a:bodyPr>
          <a:lstStyle/>
          <a:p>
            <a:r>
              <a:rPr lang="en-IN" sz="4000" dirty="0"/>
              <a:t>🔍 </a:t>
            </a:r>
            <a:r>
              <a:rPr lang="en-US" sz="4000" dirty="0">
                <a:solidFill>
                  <a:srgbClr val="FF0000"/>
                </a:solidFill>
                <a:latin typeface="Times New Roman" panose="02020603050405020304" pitchFamily="18" charset="0"/>
                <a:cs typeface="Times New Roman" panose="02020603050405020304" pitchFamily="18" charset="0"/>
              </a:rPr>
              <a:t>TASK - 2</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695F53-E979-6BDC-9203-537F0A482EA8}"/>
              </a:ext>
            </a:extLst>
          </p:cNvPr>
          <p:cNvSpPr txBox="1"/>
          <p:nvPr/>
        </p:nvSpPr>
        <p:spPr>
          <a:xfrm>
            <a:off x="1469334" y="1212573"/>
            <a:ext cx="9253330" cy="830997"/>
          </a:xfrm>
          <a:prstGeom prst="rect">
            <a:avLst/>
          </a:prstGeom>
          <a:noFill/>
        </p:spPr>
        <p:txBody>
          <a:bodyPr wrap="square" rtlCol="0">
            <a:spAutoFit/>
          </a:bodyPr>
          <a:lstStyle/>
          <a:p>
            <a:pPr lvl="0" algn="just" defTabSz="914400"/>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1. Month-wise trend of expenses (Pivot table and chart)</a:t>
            </a:r>
          </a:p>
          <a:p>
            <a:pPr marL="285750" lvl="0" indent="-285750" algn="just" defTabSz="914400">
              <a:buFont typeface="Wingdings" panose="05000000000000000000" pitchFamily="2" charset="2"/>
              <a:buChar cha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Find out the month Nitin spent the most</a:t>
            </a:r>
          </a:p>
        </p:txBody>
      </p:sp>
      <p:pic>
        <p:nvPicPr>
          <p:cNvPr id="6" name="Picture 5">
            <a:extLst>
              <a:ext uri="{FF2B5EF4-FFF2-40B4-BE49-F238E27FC236}">
                <a16:creationId xmlns:a16="http://schemas.microsoft.com/office/drawing/2014/main" id="{A1EA448E-3052-6710-F121-1F0B9B4A8112}"/>
              </a:ext>
            </a:extLst>
          </p:cNvPr>
          <p:cNvPicPr>
            <a:picLocks noChangeAspect="1"/>
          </p:cNvPicPr>
          <p:nvPr/>
        </p:nvPicPr>
        <p:blipFill>
          <a:blip r:embed="rId2"/>
          <a:stretch>
            <a:fillRect/>
          </a:stretch>
        </p:blipFill>
        <p:spPr>
          <a:xfrm>
            <a:off x="1615604" y="2604052"/>
            <a:ext cx="4202099" cy="2912166"/>
          </a:xfrm>
          <a:prstGeom prst="rect">
            <a:avLst/>
          </a:prstGeom>
        </p:spPr>
      </p:pic>
      <p:pic>
        <p:nvPicPr>
          <p:cNvPr id="8" name="Picture 7">
            <a:extLst>
              <a:ext uri="{FF2B5EF4-FFF2-40B4-BE49-F238E27FC236}">
                <a16:creationId xmlns:a16="http://schemas.microsoft.com/office/drawing/2014/main" id="{1790AAB8-624A-F388-8949-40F97FB56385}"/>
              </a:ext>
            </a:extLst>
          </p:cNvPr>
          <p:cNvPicPr>
            <a:picLocks noChangeAspect="1"/>
          </p:cNvPicPr>
          <p:nvPr/>
        </p:nvPicPr>
        <p:blipFill>
          <a:blip r:embed="rId3"/>
          <a:stretch>
            <a:fillRect/>
          </a:stretch>
        </p:blipFill>
        <p:spPr>
          <a:xfrm>
            <a:off x="6500191" y="2604052"/>
            <a:ext cx="4750573" cy="2912166"/>
          </a:xfrm>
          <a:prstGeom prst="rect">
            <a:avLst/>
          </a:prstGeom>
        </p:spPr>
      </p:pic>
    </p:spTree>
    <p:extLst>
      <p:ext uri="{BB962C8B-B14F-4D97-AF65-F5344CB8AC3E}">
        <p14:creationId xmlns:p14="http://schemas.microsoft.com/office/powerpoint/2010/main" val="3251582663"/>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B918C0-D654-D0A5-F04B-59A5B6B12353}"/>
              </a:ext>
            </a:extLst>
          </p:cNvPr>
          <p:cNvSpPr txBox="1"/>
          <p:nvPr/>
        </p:nvSpPr>
        <p:spPr>
          <a:xfrm>
            <a:off x="1272209" y="904460"/>
            <a:ext cx="9760226" cy="1477328"/>
          </a:xfrm>
          <a:prstGeom prst="rect">
            <a:avLst/>
          </a:prstGeom>
          <a:noFill/>
        </p:spPr>
        <p:txBody>
          <a:bodyPr wrap="square" rtlCol="0">
            <a:spAutoFit/>
          </a:bodyPr>
          <a:lstStyle/>
          <a:p>
            <a:pPr lvl="0" algn="just" defTabSz="914400"/>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2. Category wise expenses (Pivot table)</a:t>
            </a:r>
          </a:p>
          <a:p>
            <a:pPr marL="285750" lvl="0" indent="-285750" algn="just" defTabSz="914400">
              <a:buFont typeface="Wingdings" panose="05000000000000000000" pitchFamily="2" charset="2"/>
              <a:buChar cha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Visually represent it with data bars to display categories with the highest and lowest expense amount</a:t>
            </a:r>
          </a:p>
          <a:p>
            <a:endParaRPr lang="en-IN" dirty="0"/>
          </a:p>
        </p:txBody>
      </p:sp>
      <p:pic>
        <p:nvPicPr>
          <p:cNvPr id="4" name="Picture 3">
            <a:extLst>
              <a:ext uri="{FF2B5EF4-FFF2-40B4-BE49-F238E27FC236}">
                <a16:creationId xmlns:a16="http://schemas.microsoft.com/office/drawing/2014/main" id="{95693D65-B702-1ED9-FF98-BDE226C2C252}"/>
              </a:ext>
            </a:extLst>
          </p:cNvPr>
          <p:cNvPicPr>
            <a:picLocks noChangeAspect="1"/>
          </p:cNvPicPr>
          <p:nvPr/>
        </p:nvPicPr>
        <p:blipFill>
          <a:blip r:embed="rId2"/>
          <a:stretch>
            <a:fillRect/>
          </a:stretch>
        </p:blipFill>
        <p:spPr>
          <a:xfrm>
            <a:off x="1699590" y="2576845"/>
            <a:ext cx="4396409" cy="3038764"/>
          </a:xfrm>
          <a:prstGeom prst="rect">
            <a:avLst/>
          </a:prstGeom>
        </p:spPr>
      </p:pic>
      <p:pic>
        <p:nvPicPr>
          <p:cNvPr id="6" name="Picture 5">
            <a:extLst>
              <a:ext uri="{FF2B5EF4-FFF2-40B4-BE49-F238E27FC236}">
                <a16:creationId xmlns:a16="http://schemas.microsoft.com/office/drawing/2014/main" id="{6698C455-2E55-EEDB-FB54-CE6B04F3A940}"/>
              </a:ext>
            </a:extLst>
          </p:cNvPr>
          <p:cNvPicPr>
            <a:picLocks noChangeAspect="1"/>
          </p:cNvPicPr>
          <p:nvPr/>
        </p:nvPicPr>
        <p:blipFill>
          <a:blip r:embed="rId3"/>
          <a:stretch>
            <a:fillRect/>
          </a:stretch>
        </p:blipFill>
        <p:spPr>
          <a:xfrm>
            <a:off x="6592956" y="2576845"/>
            <a:ext cx="4608444" cy="3038764"/>
          </a:xfrm>
          <a:prstGeom prst="rect">
            <a:avLst/>
          </a:prstGeom>
        </p:spPr>
      </p:pic>
    </p:spTree>
    <p:extLst>
      <p:ext uri="{BB962C8B-B14F-4D97-AF65-F5344CB8AC3E}">
        <p14:creationId xmlns:p14="http://schemas.microsoft.com/office/powerpoint/2010/main" val="2730373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C7AD0-DB1E-F1B5-1290-422CAE56E879}"/>
              </a:ext>
            </a:extLst>
          </p:cNvPr>
          <p:cNvSpPr txBox="1"/>
          <p:nvPr/>
        </p:nvSpPr>
        <p:spPr>
          <a:xfrm>
            <a:off x="1063487" y="974035"/>
            <a:ext cx="9929192" cy="1107996"/>
          </a:xfrm>
          <a:prstGeom prst="rect">
            <a:avLst/>
          </a:prstGeom>
          <a:noFill/>
        </p:spPr>
        <p:txBody>
          <a:bodyPr wrap="square" rtlCol="0">
            <a:spAutoFit/>
          </a:bodyPr>
          <a:lstStyle/>
          <a:p>
            <a:pPr lvl="0" defTabSz="914400">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3. Month-wise expense of each category (Pivot table)</a:t>
            </a:r>
          </a:p>
          <a:p>
            <a:pPr marL="285750" lvl="0" indent="-285750" defTabSz="914400">
              <a:buFont typeface="Wingdings" panose="05000000000000000000" pitchFamily="2" charset="2"/>
              <a:buChar char="§"/>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Find out 2 categories with higher expenses for each of the 6 months</a:t>
            </a:r>
          </a:p>
          <a:p>
            <a:endParaRPr lang="en-IN" dirty="0"/>
          </a:p>
        </p:txBody>
      </p:sp>
      <p:pic>
        <p:nvPicPr>
          <p:cNvPr id="4" name="Picture 3">
            <a:extLst>
              <a:ext uri="{FF2B5EF4-FFF2-40B4-BE49-F238E27FC236}">
                <a16:creationId xmlns:a16="http://schemas.microsoft.com/office/drawing/2014/main" id="{DD2AA711-819C-DAE8-3273-A5624B761E6C}"/>
              </a:ext>
            </a:extLst>
          </p:cNvPr>
          <p:cNvPicPr>
            <a:picLocks noChangeAspect="1"/>
          </p:cNvPicPr>
          <p:nvPr/>
        </p:nvPicPr>
        <p:blipFill>
          <a:blip r:embed="rId2"/>
          <a:stretch>
            <a:fillRect/>
          </a:stretch>
        </p:blipFill>
        <p:spPr>
          <a:xfrm>
            <a:off x="2663686" y="1908314"/>
            <a:ext cx="6937513" cy="1520686"/>
          </a:xfrm>
          <a:prstGeom prst="rect">
            <a:avLst/>
          </a:prstGeom>
        </p:spPr>
      </p:pic>
      <p:pic>
        <p:nvPicPr>
          <p:cNvPr id="9" name="Picture 8">
            <a:extLst>
              <a:ext uri="{FF2B5EF4-FFF2-40B4-BE49-F238E27FC236}">
                <a16:creationId xmlns:a16="http://schemas.microsoft.com/office/drawing/2014/main" id="{E5A116D9-D40E-ED40-505E-472A071D755B}"/>
              </a:ext>
            </a:extLst>
          </p:cNvPr>
          <p:cNvPicPr>
            <a:picLocks noChangeAspect="1"/>
          </p:cNvPicPr>
          <p:nvPr/>
        </p:nvPicPr>
        <p:blipFill>
          <a:blip r:embed="rId3"/>
          <a:stretch>
            <a:fillRect/>
          </a:stretch>
        </p:blipFill>
        <p:spPr>
          <a:xfrm>
            <a:off x="3881397" y="3566904"/>
            <a:ext cx="4293372" cy="2973048"/>
          </a:xfrm>
          <a:prstGeom prst="rect">
            <a:avLst/>
          </a:prstGeom>
        </p:spPr>
      </p:pic>
    </p:spTree>
    <p:extLst>
      <p:ext uri="{BB962C8B-B14F-4D97-AF65-F5344CB8AC3E}">
        <p14:creationId xmlns:p14="http://schemas.microsoft.com/office/powerpoint/2010/main" val="2570166853"/>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457C63-059A-8CFE-ADD2-005B6851F8C2}"/>
              </a:ext>
            </a:extLst>
          </p:cNvPr>
          <p:cNvSpPr txBox="1"/>
          <p:nvPr/>
        </p:nvSpPr>
        <p:spPr>
          <a:xfrm>
            <a:off x="1311966" y="775252"/>
            <a:ext cx="9849678" cy="1846659"/>
          </a:xfrm>
          <a:prstGeom prst="rect">
            <a:avLst/>
          </a:prstGeom>
          <a:noFill/>
        </p:spPr>
        <p:txBody>
          <a:bodyPr wrap="square" rtlCol="0">
            <a:spAutoFit/>
          </a:bodyPr>
          <a:lstStyle/>
          <a:p>
            <a:pPr lvl="0" algn="just" defTabSz="914400">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4. How much is spent in each month against different items of</a:t>
            </a:r>
          </a:p>
          <a:p>
            <a:pPr lvl="0" algn="just" defTabSz="914400">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Entertainment, Food and Shopping categories (Pivot table)</a:t>
            </a:r>
          </a:p>
          <a:p>
            <a:pPr marL="285750" lvl="0" indent="-285750" algn="just" defTabSz="914400">
              <a:buFont typeface="Arial" panose="020B0604020202020204" pitchFamily="34" charset="0"/>
              <a:buChar char="•"/>
              <a:defRPr/>
            </a:pPr>
            <a:r>
              <a:rPr lang="en-US" sz="2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Find out which months have the highest amount spent for movies and dining out</a:t>
            </a:r>
          </a:p>
          <a:p>
            <a:endParaRPr lang="en-IN" dirty="0"/>
          </a:p>
        </p:txBody>
      </p:sp>
      <p:pic>
        <p:nvPicPr>
          <p:cNvPr id="5" name="Picture 4">
            <a:extLst>
              <a:ext uri="{FF2B5EF4-FFF2-40B4-BE49-F238E27FC236}">
                <a16:creationId xmlns:a16="http://schemas.microsoft.com/office/drawing/2014/main" id="{3CAEAB31-5BC4-8B6D-8933-6B1E6CC27356}"/>
              </a:ext>
            </a:extLst>
          </p:cNvPr>
          <p:cNvPicPr>
            <a:picLocks noChangeAspect="1"/>
          </p:cNvPicPr>
          <p:nvPr/>
        </p:nvPicPr>
        <p:blipFill>
          <a:blip r:embed="rId2"/>
          <a:stretch>
            <a:fillRect/>
          </a:stretch>
        </p:blipFill>
        <p:spPr>
          <a:xfrm>
            <a:off x="3130826" y="2107096"/>
            <a:ext cx="6042991" cy="1441174"/>
          </a:xfrm>
          <a:prstGeom prst="rect">
            <a:avLst/>
          </a:prstGeom>
        </p:spPr>
      </p:pic>
      <p:pic>
        <p:nvPicPr>
          <p:cNvPr id="7" name="Picture 6">
            <a:extLst>
              <a:ext uri="{FF2B5EF4-FFF2-40B4-BE49-F238E27FC236}">
                <a16:creationId xmlns:a16="http://schemas.microsoft.com/office/drawing/2014/main" id="{F2914192-444E-4111-54CA-4BC5FFDF2FC0}"/>
              </a:ext>
            </a:extLst>
          </p:cNvPr>
          <p:cNvPicPr>
            <a:picLocks noChangeAspect="1"/>
          </p:cNvPicPr>
          <p:nvPr/>
        </p:nvPicPr>
        <p:blipFill>
          <a:blip r:embed="rId3"/>
          <a:stretch>
            <a:fillRect/>
          </a:stretch>
        </p:blipFill>
        <p:spPr>
          <a:xfrm>
            <a:off x="3806753" y="3835400"/>
            <a:ext cx="4578493" cy="2755631"/>
          </a:xfrm>
          <a:prstGeom prst="rect">
            <a:avLst/>
          </a:prstGeom>
        </p:spPr>
      </p:pic>
    </p:spTree>
    <p:extLst>
      <p:ext uri="{BB962C8B-B14F-4D97-AF65-F5344CB8AC3E}">
        <p14:creationId xmlns:p14="http://schemas.microsoft.com/office/powerpoint/2010/main" val="384413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3CA239-4247-9D93-EB86-515EFC426220}"/>
              </a:ext>
            </a:extLst>
          </p:cNvPr>
          <p:cNvSpPr txBox="1"/>
          <p:nvPr/>
        </p:nvSpPr>
        <p:spPr>
          <a:xfrm>
            <a:off x="1141344" y="476223"/>
            <a:ext cx="9909312" cy="707886"/>
          </a:xfrm>
          <a:prstGeom prst="rect">
            <a:avLst/>
          </a:prstGeom>
          <a:noFill/>
        </p:spPr>
        <p:txBody>
          <a:bodyPr wrap="square" rtlCol="0">
            <a:spAutoFit/>
          </a:bodyPr>
          <a:lstStyle/>
          <a:p>
            <a:r>
              <a:rPr lang="en-IN" sz="4000" dirty="0"/>
              <a:t>💡</a:t>
            </a:r>
            <a:r>
              <a:rPr lang="en-IN" sz="4000" dirty="0">
                <a:solidFill>
                  <a:srgbClr val="FF0000"/>
                </a:solidFill>
                <a:latin typeface="Times New Roman" panose="02020603050405020304" pitchFamily="18" charset="0"/>
                <a:cs typeface="Times New Roman" panose="02020603050405020304" pitchFamily="18" charset="0"/>
              </a:rPr>
              <a:t>Suggestions – Overall Six Months Analysis</a:t>
            </a:r>
          </a:p>
        </p:txBody>
      </p:sp>
      <p:sp>
        <p:nvSpPr>
          <p:cNvPr id="4" name="TextBox 3">
            <a:extLst>
              <a:ext uri="{FF2B5EF4-FFF2-40B4-BE49-F238E27FC236}">
                <a16:creationId xmlns:a16="http://schemas.microsoft.com/office/drawing/2014/main" id="{36A92BA0-667F-1544-28CC-AB23B2CC33A7}"/>
              </a:ext>
            </a:extLst>
          </p:cNvPr>
          <p:cNvSpPr txBox="1"/>
          <p:nvPr/>
        </p:nvSpPr>
        <p:spPr>
          <a:xfrm>
            <a:off x="1490870" y="1351722"/>
            <a:ext cx="9531626" cy="4801314"/>
          </a:xfrm>
          <a:prstGeom prst="rect">
            <a:avLst/>
          </a:prstGeom>
          <a:noFill/>
        </p:spPr>
        <p:txBody>
          <a:bodyPr wrap="square" rtlCol="0">
            <a:spAutoFit/>
          </a:bodyPr>
          <a:lstStyle/>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Reduce Entertainment Expenses:</a:t>
            </a:r>
            <a:r>
              <a:rPr lang="en-IN" sz="2400" dirty="0">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Entertainment is one of the highest non-essential expense categories, mainly due to the North Bengal Trip (₹7,500), movies, and outings. Setting a monthly entertainment budget can significantly improve savings.</a:t>
            </a:r>
            <a:r>
              <a:rPr lang="en-IN" sz="24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Control Shopping Expenses</a:t>
            </a:r>
            <a:r>
              <a:rPr lang="en-IN" sz="2400" dirty="0">
                <a:solidFill>
                  <a:schemeClr val="bg1"/>
                </a:solidFill>
                <a:latin typeface="Times New Roman" panose="02020603050405020304" pitchFamily="18" charset="0"/>
                <a:cs typeface="Times New Roman" panose="02020603050405020304" pitchFamily="18" charset="0"/>
              </a:rPr>
              <a:t>: Expenses on shirts, T-shirts, jeans, and shoes are high over the six months. Purchase clothes only when necessary and avoid impulse buying. </a:t>
            </a: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Limit Online Food Orders and Dining Out:</a:t>
            </a:r>
            <a:r>
              <a:rPr lang="en-IN" sz="2400" dirty="0">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Frequent spending on online food orders, dining out, chips, and snacks increases monthly expenses. Choosing home-cooked meals can reduce costs. </a:t>
            </a: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Manage Miscellaneous Expenses:</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Plan expenses such as gifts and other miscellaneous purchases in advance to avoid unnecessary spending.</a:t>
            </a:r>
          </a:p>
          <a:p>
            <a:endParaRPr lang="en-IN" dirty="0"/>
          </a:p>
        </p:txBody>
      </p:sp>
    </p:spTree>
    <p:extLst>
      <p:ext uri="{BB962C8B-B14F-4D97-AF65-F5344CB8AC3E}">
        <p14:creationId xmlns:p14="http://schemas.microsoft.com/office/powerpoint/2010/main" val="25541923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C202A2-E182-E3EF-3A4E-5BE791D0CE02}"/>
              </a:ext>
            </a:extLst>
          </p:cNvPr>
          <p:cNvSpPr txBox="1"/>
          <p:nvPr/>
        </p:nvSpPr>
        <p:spPr>
          <a:xfrm>
            <a:off x="1499152" y="1174835"/>
            <a:ext cx="9193695" cy="4801314"/>
          </a:xfrm>
          <a:prstGeom prst="rect">
            <a:avLst/>
          </a:prstGeom>
          <a:noFill/>
        </p:spPr>
        <p:txBody>
          <a:bodyPr wrap="square" rtlCol="0">
            <a:spAutoFit/>
          </a:bodyPr>
          <a:lstStyle/>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Use Discounts and Cashback Offers:</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While purchasing essential items like groceries, Nitin can make use of discounts, offers, and cashback to reduce overall expenses</a:t>
            </a:r>
            <a:r>
              <a:rPr lang="en-IN" sz="2400" dirty="0">
                <a:latin typeface="Times New Roman" panose="02020603050405020304" pitchFamily="18" charset="0"/>
                <a:cs typeface="Times New Roman" panose="02020603050405020304" pitchFamily="18" charset="0"/>
              </a:rPr>
              <a:t>.</a:t>
            </a:r>
            <a:endParaRPr lang="en-IN" sz="2400" b="1" dirty="0">
              <a:solidFill>
                <a:schemeClr val="bg2"/>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Maintain Essential Expenses Efficiently:</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Grocery, Ticket &amp; Bills, and Doctor &amp; Medicine are essential expenses. Continue managing them wisely without affecting daily needs. </a:t>
            </a: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Follow a Monthly Budget:</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Allocate a fixed amount for each expense category and monitor spending regularly to avoid exceeding the budget. </a:t>
            </a:r>
          </a:p>
          <a:p>
            <a:pPr marL="342900" lvl="0" indent="-342900">
              <a:buFont typeface="Wingdings" panose="05000000000000000000" pitchFamily="2" charset="2"/>
              <a:buChar char="§"/>
            </a:pPr>
            <a:r>
              <a:rPr lang="en-IN" sz="2400" b="1" dirty="0">
                <a:solidFill>
                  <a:schemeClr val="bg2"/>
                </a:solidFill>
                <a:latin typeface="Times New Roman" panose="02020603050405020304" pitchFamily="18" charset="0"/>
                <a:cs typeface="Times New Roman" panose="02020603050405020304" pitchFamily="18" charset="0"/>
              </a:rPr>
              <a:t>Increase Monthly Savings:</a:t>
            </a:r>
            <a:r>
              <a:rPr lang="en-IN" sz="2400" dirty="0">
                <a:solidFill>
                  <a:schemeClr val="bg2"/>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Save a fixed portion of the salary (20–30%) every month in a separate scooter savings fund before spending on non-essential items. </a:t>
            </a: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676526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39B263-029D-1F32-2BD9-ACD98B8FF95F}"/>
              </a:ext>
            </a:extLst>
          </p:cNvPr>
          <p:cNvPicPr>
            <a:picLocks noChangeAspect="1"/>
          </p:cNvPicPr>
          <p:nvPr/>
        </p:nvPicPr>
        <p:blipFill>
          <a:blip r:embed="rId2"/>
          <a:stretch>
            <a:fillRect/>
          </a:stretch>
        </p:blipFill>
        <p:spPr>
          <a:xfrm>
            <a:off x="6728790" y="139148"/>
            <a:ext cx="4522306" cy="6480313"/>
          </a:xfrm>
          <a:prstGeom prst="rect">
            <a:avLst/>
          </a:prstGeom>
        </p:spPr>
      </p:pic>
      <p:sp>
        <p:nvSpPr>
          <p:cNvPr id="2" name="TextBox 1">
            <a:extLst>
              <a:ext uri="{FF2B5EF4-FFF2-40B4-BE49-F238E27FC236}">
                <a16:creationId xmlns:a16="http://schemas.microsoft.com/office/drawing/2014/main" id="{A308ECB0-A283-135B-DCFE-922FC78066A6}"/>
              </a:ext>
            </a:extLst>
          </p:cNvPr>
          <p:cNvSpPr txBox="1"/>
          <p:nvPr/>
        </p:nvSpPr>
        <p:spPr>
          <a:xfrm>
            <a:off x="1643268" y="230809"/>
            <a:ext cx="4283766" cy="707886"/>
          </a:xfrm>
          <a:prstGeom prst="rect">
            <a:avLst/>
          </a:prstGeom>
          <a:noFill/>
        </p:spPr>
        <p:txBody>
          <a:bodyPr wrap="square" rtlCol="0">
            <a:spAutoFit/>
          </a:bodyPr>
          <a:lstStyle/>
          <a:p>
            <a:r>
              <a:rPr lang="en-IN" sz="4000" dirty="0"/>
              <a:t>🛵</a:t>
            </a:r>
            <a:r>
              <a:rPr lang="en-US" sz="4000" dirty="0">
                <a:solidFill>
                  <a:srgbClr val="FF0000"/>
                </a:solidFill>
                <a:latin typeface="Times New Roman" panose="02020603050405020304" pitchFamily="18" charset="0"/>
                <a:cs typeface="Times New Roman" panose="02020603050405020304" pitchFamily="18" charset="0"/>
              </a:rPr>
              <a:t>CONCLUSION</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D1611BA-69BC-9F68-F05C-2D26A79C4E2A}"/>
              </a:ext>
            </a:extLst>
          </p:cNvPr>
          <p:cNvSpPr txBox="1"/>
          <p:nvPr/>
        </p:nvSpPr>
        <p:spPr>
          <a:xfrm>
            <a:off x="1229138" y="1085574"/>
            <a:ext cx="5112027" cy="5262979"/>
          </a:xfrm>
          <a:prstGeom prst="rect">
            <a:avLst/>
          </a:prstGeom>
          <a:noFill/>
        </p:spPr>
        <p:txBody>
          <a:bodyPr wrap="square" rtlCol="0">
            <a:spAutoFit/>
          </a:bodyPr>
          <a:lstStyle/>
          <a:p>
            <a:pPr algn="just"/>
            <a:r>
              <a:rPr lang="en-IN" sz="2400" dirty="0">
                <a:solidFill>
                  <a:schemeClr val="bg1"/>
                </a:solidFill>
                <a:latin typeface="Times New Roman" panose="02020603050405020304" pitchFamily="18" charset="0"/>
                <a:cs typeface="Times New Roman" panose="02020603050405020304" pitchFamily="18" charset="0"/>
              </a:rPr>
              <a:t>The six-month expense analysis shows that Entertainment, Shopping, and Outside Food are the major non-essential spending categories, while Grocery, Ticket &amp; Bills, and Doctor &amp; Medicine are essential expenses. By reducing unnecessary spending on entertainment, shopping, and online food, and by following a disciplined monthly budget and savings plan, Nitin can steadily increase his savings and achieve his goal of purchasing a scooter without compromising his essential needs.</a:t>
            </a:r>
          </a:p>
        </p:txBody>
      </p:sp>
    </p:spTree>
    <p:extLst>
      <p:ext uri="{BB962C8B-B14F-4D97-AF65-F5344CB8AC3E}">
        <p14:creationId xmlns:p14="http://schemas.microsoft.com/office/powerpoint/2010/main" val="33306342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938A99D-8F80-CE24-7D5F-AE2B2096DE32}"/>
              </a:ext>
            </a:extLst>
          </p:cNvPr>
          <p:cNvPicPr>
            <a:picLocks noChangeAspect="1"/>
          </p:cNvPicPr>
          <p:nvPr/>
        </p:nvPicPr>
        <p:blipFill>
          <a:blip r:embed="rId2"/>
          <a:stretch>
            <a:fillRect/>
          </a:stretch>
        </p:blipFill>
        <p:spPr>
          <a:xfrm>
            <a:off x="1949726" y="795130"/>
            <a:ext cx="8292548" cy="5267739"/>
          </a:xfrm>
          <a:prstGeom prst="rect">
            <a:avLst/>
          </a:prstGeom>
        </p:spPr>
      </p:pic>
    </p:spTree>
    <p:extLst>
      <p:ext uri="{BB962C8B-B14F-4D97-AF65-F5344CB8AC3E}">
        <p14:creationId xmlns:p14="http://schemas.microsoft.com/office/powerpoint/2010/main" val="17902112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{2675DDF8-5912-4988-8190-2901318505E3}TF6d5feb1e-e145-43f1-b745-cb4b54c5ee97c08fbe0c-84ec64d2cf32</Template>
  <TotalTime>324</TotalTime>
  <Words>872</Words>
  <Application>Microsoft Office PowerPoint</Application>
  <PresentationFormat>Widescreen</PresentationFormat>
  <Paragraphs>53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Times New Roman</vt:lpstr>
      <vt:lpstr>Tw Cen MT</vt:lpstr>
      <vt:lpstr>Wingdings</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Vasavi Karnati</dc:creator>
  <cp:lastModifiedBy>Vasavi Karnati</cp:lastModifiedBy>
  <cp:revision>12</cp:revision>
  <dcterms:created xsi:type="dcterms:W3CDTF">2026-08-04T07:46:11Z</dcterms:created>
  <dcterms:modified xsi:type="dcterms:W3CDTF">2026-10-09T07:04:36Z</dcterms:modified>
</cp:coreProperties>
</file>